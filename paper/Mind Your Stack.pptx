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A00"/>
    <a:srgbClr val="1C1C1C"/>
    <a:srgbClr val="111111"/>
    <a:srgbClr val="29292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CBD4A-1F92-4DA4-9FC1-AAA0ED8E4F95}" v="1930" dt="2026-03-11T07:10:43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1BF7D-0D32-4A06-B3DE-359F61405DF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DE6E7-05AB-478C-B843-2D03A658E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59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DE6E7-05AB-478C-B843-2D03A658E6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63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7C01-1467-3293-F07F-EBCE50A1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963BF-09E7-35EA-1FE3-7E3EEABFC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CABEA-EE68-6212-9F04-54893FAA7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768CC-B54C-25DB-8CE5-120CF2EC9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DE6E7-05AB-478C-B843-2D03A658E6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60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0A33E-5549-4297-FFC8-D5E1BC35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91C06-1A08-74BF-2CFC-589B0EFA6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98299-3D71-D9B8-5EFE-454AAAAFF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935A1-1433-2D75-4D16-DFD11AD81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DE6E7-05AB-478C-B843-2D03A658E6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90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1E1F-7C11-5FB4-B3D0-2EAAFBC2D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869F4-598F-345A-4294-5923D98E9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8D47-B5A6-7AB9-9B72-FFBC724F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0ED1C-150D-6300-64F9-E5A5F265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A7C29-16E1-8F78-2813-D9124208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3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EA59-613C-B98E-25C5-26518334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46C84-DAA0-D7AA-932B-528FCAF0E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13108-270A-604E-4007-D5731A79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D9AE2-995C-63FB-0EA7-4F9F4736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58D0A-BF79-0DA3-3C9B-F86024A8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4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2016-4205-4AE4-80BE-94CB4747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BD48A-01CA-3E39-3D32-037F4B588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49651-6D50-CB73-193C-6ACBA3AA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448AD-1A51-685F-D773-56A7ABFC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8BB0-274D-402F-4DCB-7778BF1B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413F-D430-B4C1-FB22-F8FCA5A90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5F7C0-3905-D570-E530-2447F30EB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8D6FC-9BB3-857E-C0D6-4299679E9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FC0F2-0E07-2A10-E655-F0C0F3D5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42315-E8D5-96E9-5808-8DF5473B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43B21-6B11-A1A9-E7D1-D6279E77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0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C0A0E-F5BB-0324-B675-D5E81CD3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2E7BF-93C8-3ACF-D4B3-4D54AA57E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D8000-B9CB-DCCE-E895-AC3A2FDE2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38391-51DF-E3B0-2952-9A5449AEF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C67EF9-FABA-D262-192B-C187B5E43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2C814-BB93-0A7B-3ADB-566FD892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01FA7-A1BA-C8AE-222F-D13C964FF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89EA8-3F9F-FF21-1C33-B5E231BA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0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51D0-61A5-2277-0AB4-927A86DA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5979C2-5EE3-A2AE-D041-6E45E48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202A6-94C8-D281-302D-E073234A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2E6D4-08F2-6CDF-C2C5-360727A9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1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A803B-A432-3DF3-6DE3-B42FB05F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7EC91-D15D-D499-D440-C9563338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832AC-B80E-99D8-E4C2-CCCC5035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6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FA11-876A-EF09-32EC-9AC7D11F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27362-42CA-FA97-17AC-BBBF89D97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68D51-9E2B-31B2-D2FC-7CD185F94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251B8-CB1D-928E-94AE-3B9D2AF3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F376B-5F2C-C280-7AF7-AEEEA1FB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09EE7-1CAC-63E3-22EB-BB27E7BF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1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EF71-F31A-D553-0F92-1BB62D2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A41B0-1466-74C2-27D0-D49DBA92B1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7A03E-A42A-0091-FDA4-21318A4D3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ABCA4-96D1-39B0-90FD-20A62C3FA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B2A77-2790-DAED-EC9C-3011F848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F6590-B2B1-5375-245A-C4EC7738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1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A2ED-6D3F-4515-697E-D8881B9CE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B6E2A-60C5-8E4C-D782-E6F066E96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EAC8E-7AB1-5B0C-D127-1D091F36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7FA6C-1E87-5BD5-3C78-50C6BA8E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E63E3-9446-DCB0-1098-2E03BB90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6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5D505-A417-DAC8-EA00-7F81A41006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754BF-1FDF-1D77-C59D-D13230F7A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2267A-4359-77B2-3886-51C1F6B3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1C7CC-CFFE-7DD5-7A85-5042DBAD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6B187-0AE3-6CA5-2C9A-7DE37134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0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E7AA5-CC26-CD8F-9A32-0B6968ECD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11C06-027E-FE06-6282-BC92B7812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2531F-D1D4-5F70-723E-F91599D84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0836A-AF2C-406E-8654-DF509A85936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7C226-69B8-8D7E-3C9F-F3FF7BF6E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D20CC-8840-3E33-BBB2-7B326F90B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550EC-55A5-4055-99EB-7B3F9C17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046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58F7-03D0-4469-B35C-6C8DA4252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32861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Mind Your Stack</a:t>
            </a:r>
            <a:b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Fingerprinting Self-Hosted Software Through Passive Network Observation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BD67F-7C6D-1211-0992-DDCEC727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4496319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By Jisnu Gujjalapudi Madhusudan and Ryan Walker Clarson</a:t>
            </a:r>
          </a:p>
          <a:p>
            <a:pPr algn="l"/>
            <a:r>
              <a:rPr lang="en-US" sz="1600" dirty="0"/>
              <a:t>CS 578 Cybersecurity | March 11, 2026</a:t>
            </a:r>
          </a:p>
          <a:p>
            <a:pPr algn="l"/>
            <a:r>
              <a:rPr lang="en-US" sz="1600" dirty="0"/>
              <a:t>College of EECS</a:t>
            </a:r>
          </a:p>
          <a:p>
            <a:pPr algn="l"/>
            <a:r>
              <a:rPr lang="en-US" sz="1600" dirty="0">
                <a:solidFill>
                  <a:schemeClr val="accent2"/>
                </a:solidFill>
              </a:rPr>
              <a:t>Oregon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375600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7498897-61E2-8EC6-CD5E-6735E1661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9144000" cy="667674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Roadmap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078561-BF79-A2D0-D407-D4E768661618}"/>
              </a:ext>
            </a:extLst>
          </p:cNvPr>
          <p:cNvGrpSpPr/>
          <p:nvPr/>
        </p:nvGrpSpPr>
        <p:grpSpPr>
          <a:xfrm>
            <a:off x="477078" y="1227752"/>
            <a:ext cx="4297680" cy="457200"/>
            <a:chOff x="477078" y="1254229"/>
            <a:chExt cx="4297680" cy="4572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C6D0F25-30D5-8245-7DE0-279CDBBA7081}"/>
                </a:ext>
              </a:extLst>
            </p:cNvPr>
            <p:cNvSpPr/>
            <p:nvPr/>
          </p:nvSpPr>
          <p:spPr>
            <a:xfrm>
              <a:off x="477078" y="1254229"/>
              <a:ext cx="457200" cy="457200"/>
            </a:xfrm>
            <a:prstGeom prst="ellipse">
              <a:avLst/>
            </a:prstGeom>
            <a:solidFill>
              <a:srgbClr val="007A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AB6050-1AAA-5D87-90F5-6AA8AED0EA64}"/>
                </a:ext>
              </a:extLst>
            </p:cNvPr>
            <p:cNvSpPr txBox="1"/>
            <p:nvPr/>
          </p:nvSpPr>
          <p:spPr>
            <a:xfrm>
              <a:off x="1117158" y="1322809"/>
              <a:ext cx="3657600" cy="320040"/>
            </a:xfrm>
            <a:prstGeom prst="rect">
              <a:avLst/>
            </a:prstGeom>
            <a:noFill/>
          </p:spPr>
          <p:txBody>
            <a:bodyPr wrap="square" anchor="ctr"/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Research Question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48D913C-4912-138F-51AC-AEA481D65280}"/>
              </a:ext>
            </a:extLst>
          </p:cNvPr>
          <p:cNvGrpSpPr/>
          <p:nvPr/>
        </p:nvGrpSpPr>
        <p:grpSpPr>
          <a:xfrm>
            <a:off x="477078" y="2021574"/>
            <a:ext cx="4297680" cy="457200"/>
            <a:chOff x="477078" y="1982132"/>
            <a:chExt cx="4297680" cy="4572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1B20D56-4AE2-12A6-6295-66A5BB3AA6DA}"/>
                </a:ext>
              </a:extLst>
            </p:cNvPr>
            <p:cNvSpPr/>
            <p:nvPr/>
          </p:nvSpPr>
          <p:spPr>
            <a:xfrm>
              <a:off x="477078" y="1982132"/>
              <a:ext cx="457200" cy="457200"/>
            </a:xfrm>
            <a:prstGeom prst="ellipse">
              <a:avLst/>
            </a:prstGeom>
            <a:solidFill>
              <a:srgbClr val="007A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CF01F6-2650-2C81-B3ED-8B3D5104CE15}"/>
                </a:ext>
              </a:extLst>
            </p:cNvPr>
            <p:cNvSpPr txBox="1"/>
            <p:nvPr/>
          </p:nvSpPr>
          <p:spPr>
            <a:xfrm>
              <a:off x="1117158" y="2050712"/>
              <a:ext cx="3657600" cy="320040"/>
            </a:xfrm>
            <a:prstGeom prst="rect">
              <a:avLst/>
            </a:prstGeom>
            <a:noFill/>
          </p:spPr>
          <p:txBody>
            <a:bodyPr wrap="square" anchor="ctr"/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Methodology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92FB18-652D-F949-8C6D-9BED1EAE343C}"/>
              </a:ext>
            </a:extLst>
          </p:cNvPr>
          <p:cNvGrpSpPr/>
          <p:nvPr/>
        </p:nvGrpSpPr>
        <p:grpSpPr>
          <a:xfrm>
            <a:off x="477078" y="2776572"/>
            <a:ext cx="4297680" cy="457200"/>
            <a:chOff x="477078" y="2702871"/>
            <a:chExt cx="4297680" cy="4572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2CE45AB-1884-090A-C13A-F6DE9989E21B}"/>
                </a:ext>
              </a:extLst>
            </p:cNvPr>
            <p:cNvSpPr/>
            <p:nvPr/>
          </p:nvSpPr>
          <p:spPr>
            <a:xfrm>
              <a:off x="477078" y="2702871"/>
              <a:ext cx="457200" cy="457200"/>
            </a:xfrm>
            <a:prstGeom prst="ellipse">
              <a:avLst/>
            </a:prstGeom>
            <a:solidFill>
              <a:srgbClr val="007A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8BDB2D-DB28-C419-1308-2F0AA438EE24}"/>
                </a:ext>
              </a:extLst>
            </p:cNvPr>
            <p:cNvSpPr txBox="1"/>
            <p:nvPr/>
          </p:nvSpPr>
          <p:spPr>
            <a:xfrm>
              <a:off x="1117158" y="2766195"/>
              <a:ext cx="3657600" cy="320040"/>
            </a:xfrm>
            <a:prstGeom prst="rect">
              <a:avLst/>
            </a:prstGeom>
            <a:noFill/>
          </p:spPr>
          <p:txBody>
            <a:bodyPr wrap="square" anchor="ctr"/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Scope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9534E84-9D30-551C-131F-21D704ED741B}"/>
              </a:ext>
            </a:extLst>
          </p:cNvPr>
          <p:cNvGrpSpPr/>
          <p:nvPr/>
        </p:nvGrpSpPr>
        <p:grpSpPr>
          <a:xfrm>
            <a:off x="477078" y="3474720"/>
            <a:ext cx="4297680" cy="457200"/>
            <a:chOff x="477078" y="3423610"/>
            <a:chExt cx="4297680" cy="4572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9DD0E80-6F60-E3E5-DEC5-17CE1543A1B8}"/>
                </a:ext>
              </a:extLst>
            </p:cNvPr>
            <p:cNvSpPr/>
            <p:nvPr/>
          </p:nvSpPr>
          <p:spPr>
            <a:xfrm>
              <a:off x="477078" y="3423610"/>
              <a:ext cx="457200" cy="457200"/>
            </a:xfrm>
            <a:prstGeom prst="ellipse">
              <a:avLst/>
            </a:prstGeom>
            <a:solidFill>
              <a:srgbClr val="007A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1EC800-3C4D-15ED-B0A1-408EA52FCA8F}"/>
                </a:ext>
              </a:extLst>
            </p:cNvPr>
            <p:cNvSpPr txBox="1"/>
            <p:nvPr/>
          </p:nvSpPr>
          <p:spPr>
            <a:xfrm>
              <a:off x="1117158" y="3486316"/>
              <a:ext cx="3657600" cy="320040"/>
            </a:xfrm>
            <a:prstGeom prst="rect">
              <a:avLst/>
            </a:prstGeom>
            <a:noFill/>
          </p:spPr>
          <p:txBody>
            <a:bodyPr wrap="square" anchor="ctr"/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Finding 1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F9670DC-CAAC-B5A8-FDBA-3E8A530F86B3}"/>
              </a:ext>
            </a:extLst>
          </p:cNvPr>
          <p:cNvGrpSpPr/>
          <p:nvPr/>
        </p:nvGrpSpPr>
        <p:grpSpPr>
          <a:xfrm>
            <a:off x="477078" y="4218588"/>
            <a:ext cx="4297680" cy="457200"/>
            <a:chOff x="477078" y="4188260"/>
            <a:chExt cx="4297680" cy="4572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7564CC3-B651-20CB-554B-96D8F47E2FB4}"/>
                </a:ext>
              </a:extLst>
            </p:cNvPr>
            <p:cNvSpPr/>
            <p:nvPr/>
          </p:nvSpPr>
          <p:spPr>
            <a:xfrm>
              <a:off x="477078" y="4188260"/>
              <a:ext cx="457200" cy="457200"/>
            </a:xfrm>
            <a:prstGeom prst="ellipse">
              <a:avLst/>
            </a:prstGeom>
            <a:solidFill>
              <a:srgbClr val="007A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E0ECE9-44C3-A316-71C4-B287FDD664A8}"/>
                </a:ext>
              </a:extLst>
            </p:cNvPr>
            <p:cNvSpPr txBox="1"/>
            <p:nvPr/>
          </p:nvSpPr>
          <p:spPr>
            <a:xfrm>
              <a:off x="1117158" y="4256840"/>
              <a:ext cx="3657600" cy="320040"/>
            </a:xfrm>
            <a:prstGeom prst="rect">
              <a:avLst/>
            </a:prstGeom>
            <a:noFill/>
          </p:spPr>
          <p:txBody>
            <a:bodyPr wrap="square" anchor="ctr"/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Finding 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5C6AA9-0C2D-3BFD-6ECC-0F08E9A7C5B8}"/>
              </a:ext>
            </a:extLst>
          </p:cNvPr>
          <p:cNvGrpSpPr/>
          <p:nvPr/>
        </p:nvGrpSpPr>
        <p:grpSpPr>
          <a:xfrm>
            <a:off x="477078" y="5008176"/>
            <a:ext cx="4297680" cy="457200"/>
            <a:chOff x="477078" y="4919780"/>
            <a:chExt cx="4297680" cy="4572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83FC2A2-7256-9FB4-14C5-416E6AA36AEE}"/>
                </a:ext>
              </a:extLst>
            </p:cNvPr>
            <p:cNvSpPr/>
            <p:nvPr/>
          </p:nvSpPr>
          <p:spPr>
            <a:xfrm>
              <a:off x="477078" y="4919780"/>
              <a:ext cx="457200" cy="457200"/>
            </a:xfrm>
            <a:prstGeom prst="ellipse">
              <a:avLst/>
            </a:prstGeom>
            <a:solidFill>
              <a:srgbClr val="007A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t>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0B5A33-406E-1D3E-8FD7-8FAA10E6B6C0}"/>
                </a:ext>
              </a:extLst>
            </p:cNvPr>
            <p:cNvSpPr txBox="1"/>
            <p:nvPr/>
          </p:nvSpPr>
          <p:spPr>
            <a:xfrm>
              <a:off x="1117158" y="4988360"/>
              <a:ext cx="3657600" cy="32004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Finding 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BEAE4A-F183-33DD-BB5B-5292B1D54009}"/>
              </a:ext>
            </a:extLst>
          </p:cNvPr>
          <p:cNvGrpSpPr/>
          <p:nvPr/>
        </p:nvGrpSpPr>
        <p:grpSpPr>
          <a:xfrm>
            <a:off x="477078" y="5721688"/>
            <a:ext cx="4297680" cy="457200"/>
            <a:chOff x="477078" y="5695211"/>
            <a:chExt cx="4297680" cy="4572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0877454-FD9F-A2AA-DBB8-99F9EB42BBD9}"/>
                </a:ext>
              </a:extLst>
            </p:cNvPr>
            <p:cNvSpPr/>
            <p:nvPr/>
          </p:nvSpPr>
          <p:spPr>
            <a:xfrm>
              <a:off x="477078" y="5695211"/>
              <a:ext cx="457200" cy="457200"/>
            </a:xfrm>
            <a:prstGeom prst="ellipse">
              <a:avLst/>
            </a:prstGeom>
            <a:solidFill>
              <a:srgbClr val="007A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7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BDCFFD-5EC5-4E59-3A57-9391109EFBE6}"/>
                </a:ext>
              </a:extLst>
            </p:cNvPr>
            <p:cNvSpPr txBox="1"/>
            <p:nvPr/>
          </p:nvSpPr>
          <p:spPr>
            <a:xfrm>
              <a:off x="1117158" y="5763791"/>
              <a:ext cx="3657600" cy="320040"/>
            </a:xfrm>
            <a:prstGeom prst="rect">
              <a:avLst/>
            </a:prstGeom>
            <a:noFill/>
          </p:spPr>
          <p:txBody>
            <a:bodyPr wrap="square" anchor="ctr"/>
            <a:lstStyle/>
            <a:p>
              <a:pPr algn="l">
                <a:defRPr sz="1800" b="1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Conclusion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A3B3300F-844E-8BE1-4D0F-0AE5CFDF3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638" y="-383409"/>
            <a:ext cx="7234362" cy="723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5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3A82-844D-7888-780B-4C2760A00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363292A-0305-E073-CE6A-36940F4A8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667674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Research Question &amp; Threat Model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D9DE5-7A8C-56D9-8964-6B4BE3CF632D}"/>
              </a:ext>
            </a:extLst>
          </p:cNvPr>
          <p:cNvSpPr txBox="1"/>
          <p:nvPr/>
        </p:nvSpPr>
        <p:spPr>
          <a:xfrm>
            <a:off x="342899" y="1609204"/>
            <a:ext cx="11577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Is it possible for a passive adversary to fingerprint container software deployments by observing network traffic?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48E27-0D77-E143-7319-601A2FBC6668}"/>
              </a:ext>
            </a:extLst>
          </p:cNvPr>
          <p:cNvSpPr txBox="1"/>
          <p:nvPr/>
        </p:nvSpPr>
        <p:spPr>
          <a:xfrm>
            <a:off x="2066205" y="3062981"/>
            <a:ext cx="8218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Yes! Each of the three applications we studied has a distinctive periodic pattern.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12FC7-DAE6-AF7B-89AF-E1F6A3B7D923}"/>
              </a:ext>
            </a:extLst>
          </p:cNvPr>
          <p:cNvSpPr txBox="1"/>
          <p:nvPr/>
        </p:nvSpPr>
        <p:spPr>
          <a:xfrm>
            <a:off x="1297056" y="4178201"/>
            <a:ext cx="270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Passive observer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dirty="0"/>
              <a:t>ISP or network provider</a:t>
            </a:r>
          </a:p>
          <a:p>
            <a:r>
              <a:rPr lang="en-US" sz="1200" dirty="0"/>
              <a:t>Enterprise or campus admin</a:t>
            </a:r>
          </a:p>
          <a:p>
            <a:r>
              <a:rPr lang="en-US" sz="1200" dirty="0"/>
              <a:t>On-path observer</a:t>
            </a:r>
          </a:p>
          <a:p>
            <a:endParaRPr lang="en-US" sz="1200" dirty="0"/>
          </a:p>
          <a:p>
            <a:r>
              <a:rPr lang="en-US" sz="1200" dirty="0"/>
              <a:t>Observes traffic, does not modify 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925B87-F4C9-6B42-F4BB-29DBA6E96138}"/>
              </a:ext>
            </a:extLst>
          </p:cNvPr>
          <p:cNvSpPr txBox="1"/>
          <p:nvPr/>
        </p:nvSpPr>
        <p:spPr>
          <a:xfrm>
            <a:off x="4781613" y="4178202"/>
            <a:ext cx="270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they see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200" dirty="0"/>
              <a:t>DNS queries (domain lookups)</a:t>
            </a:r>
          </a:p>
          <a:p>
            <a:r>
              <a:rPr lang="en-US" sz="1200" dirty="0"/>
              <a:t>TLS SNI (domain in handshake)</a:t>
            </a:r>
          </a:p>
          <a:p>
            <a:r>
              <a:rPr lang="en-US" sz="1200" dirty="0"/>
              <a:t>Connection timing and frequency</a:t>
            </a:r>
          </a:p>
          <a:p>
            <a:endParaRPr lang="en-US" sz="1200" dirty="0"/>
          </a:p>
          <a:p>
            <a:r>
              <a:rPr lang="en-US" sz="1200" dirty="0"/>
              <a:t>NOT</a:t>
            </a:r>
            <a:r>
              <a:rPr lang="en-US" sz="1200" b="1" dirty="0"/>
              <a:t> </a:t>
            </a:r>
            <a:r>
              <a:rPr lang="en-US" sz="1200" dirty="0"/>
              <a:t>encrypted payload content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48F63-DE5D-D4C8-4E72-B3154FA3AB9A}"/>
              </a:ext>
            </a:extLst>
          </p:cNvPr>
          <p:cNvSpPr txBox="1"/>
          <p:nvPr/>
        </p:nvSpPr>
        <p:spPr>
          <a:xfrm>
            <a:off x="8266168" y="4178202"/>
            <a:ext cx="270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FD9A00"/>
                </a:solidFill>
              </a:rPr>
              <a:t>What we do NOT claim</a:t>
            </a:r>
            <a:endParaRPr lang="en-US" sz="1600" dirty="0">
              <a:solidFill>
                <a:srgbClr val="FD9A00"/>
              </a:solidFill>
            </a:endParaRPr>
          </a:p>
          <a:p>
            <a:r>
              <a:rPr lang="en-US" sz="1200" dirty="0"/>
              <a:t>Not all self-hosted apps</a:t>
            </a:r>
          </a:p>
          <a:p>
            <a:r>
              <a:rPr lang="en-US" sz="1200" dirty="0"/>
              <a:t>Not an ecosystem survey</a:t>
            </a:r>
          </a:p>
          <a:p>
            <a:r>
              <a:rPr lang="en-US" sz="1200" dirty="0"/>
              <a:t>Not a trained classifier</a:t>
            </a:r>
          </a:p>
          <a:p>
            <a:endParaRPr lang="en-US" sz="1200" dirty="0"/>
          </a:p>
          <a:p>
            <a:r>
              <a:rPr lang="en-US" sz="1200" dirty="0"/>
              <a:t>Evidence for possibility in 3 apps</a:t>
            </a:r>
          </a:p>
        </p:txBody>
      </p:sp>
    </p:spTree>
    <p:extLst>
      <p:ext uri="{BB962C8B-B14F-4D97-AF65-F5344CB8AC3E}">
        <p14:creationId xmlns:p14="http://schemas.microsoft.com/office/powerpoint/2010/main" val="3091444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413BD-8FAB-A7D0-A610-E816870A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E79CAEF-CEC9-00F1-BDE8-495DC510A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667674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BF8FF-8EAC-1872-64BC-F08C3CC15FC0}"/>
              </a:ext>
            </a:extLst>
          </p:cNvPr>
          <p:cNvSpPr txBox="1">
            <a:spLocks/>
          </p:cNvSpPr>
          <p:nvPr/>
        </p:nvSpPr>
        <p:spPr>
          <a:xfrm>
            <a:off x="442292" y="1275976"/>
            <a:ext cx="306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Three applications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n8n:  workflow automation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Immich</a:t>
            </a:r>
            <a:r>
              <a:rPr lang="en-US" sz="1200" dirty="0"/>
              <a:t>: photo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Nextcloud</a:t>
            </a:r>
            <a:r>
              <a:rPr lang="en-US" sz="1200" dirty="0"/>
              <a:t>: file sync and sharing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Different architecture, different telemetry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D8DBE-7819-26B7-E75A-2EEEFCEA5601}"/>
              </a:ext>
            </a:extLst>
          </p:cNvPr>
          <p:cNvSpPr txBox="1">
            <a:spLocks/>
          </p:cNvSpPr>
          <p:nvPr/>
        </p:nvSpPr>
        <p:spPr>
          <a:xfrm>
            <a:off x="4298674" y="1275976"/>
            <a:ext cx="306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Two deployment modes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Isolated image: docker run (</a:t>
            </a:r>
            <a:r>
              <a:rPr lang="en-US" sz="1200" dirty="0" err="1"/>
              <a:t>DockerGym</a:t>
            </a:r>
            <a:r>
              <a:rPr lang="en-US" sz="1200" dirty="0"/>
              <a:t>-style)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Full stack: Docker Compose with DB + cache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Does the stack change observable behavior?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EB234-1FF8-9A69-C81F-EB57D6E6ABD0}"/>
              </a:ext>
            </a:extLst>
          </p:cNvPr>
          <p:cNvSpPr txBox="1">
            <a:spLocks/>
          </p:cNvSpPr>
          <p:nvPr/>
        </p:nvSpPr>
        <p:spPr>
          <a:xfrm>
            <a:off x="8155057" y="1275976"/>
            <a:ext cx="306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Lifecycle phases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Boot: 5 min (pre-consent traffic)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Idle: 60 min (background heartbeats)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Interaction: 10 min (user-triggered)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Extended: 72-hour continuous capture.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BAA61E-95BD-BEF7-15E4-A76C3877156A}"/>
              </a:ext>
            </a:extLst>
          </p:cNvPr>
          <p:cNvSpPr txBox="1">
            <a:spLocks/>
          </p:cNvSpPr>
          <p:nvPr/>
        </p:nvSpPr>
        <p:spPr>
          <a:xfrm>
            <a:off x="442292" y="3782024"/>
            <a:ext cx="306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Instrumentation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CoreDNS</a:t>
            </a:r>
            <a:r>
              <a:rPr lang="en-US" sz="1200" dirty="0"/>
              <a:t> at 172.30.0.2 for DNS logging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tcpdump</a:t>
            </a:r>
            <a:r>
              <a:rPr lang="en-US" sz="1200" dirty="0"/>
              <a:t> on Docker bridge interfaces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tshark</a:t>
            </a:r>
            <a:r>
              <a:rPr lang="en-US" sz="1200" dirty="0"/>
              <a:t> for TLS SNI extraction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Playwright for automated browser interaction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2F436F-8BFA-35AB-95D3-C4794513C39E}"/>
              </a:ext>
            </a:extLst>
          </p:cNvPr>
          <p:cNvSpPr txBox="1">
            <a:spLocks/>
          </p:cNvSpPr>
          <p:nvPr/>
        </p:nvSpPr>
        <p:spPr>
          <a:xfrm>
            <a:off x="4298674" y="3782024"/>
            <a:ext cx="306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Four evidence datasets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DockerGym</a:t>
            </a:r>
            <a:r>
              <a:rPr lang="en-US" sz="1200" dirty="0"/>
              <a:t> baseline (2-min isolated)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Automated stack runs (65-min lifecycle)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72-hour manual capture (periodic patterns)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Opt-out reruns (remediation test)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BF714E-08D5-C436-14A8-21441BF1922C}"/>
              </a:ext>
            </a:extLst>
          </p:cNvPr>
          <p:cNvSpPr txBox="1">
            <a:spLocks/>
          </p:cNvSpPr>
          <p:nvPr/>
        </p:nvSpPr>
        <p:spPr>
          <a:xfrm>
            <a:off x="8155057" y="3782024"/>
            <a:ext cx="3060000" cy="18000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Authoritative metric: TLS SNI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Domain name visible in TLS handshake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Per-experiment </a:t>
            </a:r>
            <a:r>
              <a:rPr lang="en-US" sz="1200" dirty="0" err="1"/>
              <a:t>pcap</a:t>
            </a:r>
            <a:r>
              <a:rPr lang="en-US" sz="1200" dirty="0"/>
              <a:t> (no cross-contamination)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DNS logs accumulate, so supportive only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All domain claims based on TLS SNI</a:t>
            </a:r>
          </a:p>
        </p:txBody>
      </p:sp>
    </p:spTree>
    <p:extLst>
      <p:ext uri="{BB962C8B-B14F-4D97-AF65-F5344CB8AC3E}">
        <p14:creationId xmlns:p14="http://schemas.microsoft.com/office/powerpoint/2010/main" val="81409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AD821-4BBA-6A3E-F373-707DD81F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5565B7-0E12-6A45-5269-A990B0D78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667674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Scope &amp; Limitations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CED0FF-076B-3C8E-0CD5-5A2DA09E17C0}"/>
              </a:ext>
            </a:extLst>
          </p:cNvPr>
          <p:cNvSpPr txBox="1"/>
          <p:nvPr/>
        </p:nvSpPr>
        <p:spPr>
          <a:xfrm>
            <a:off x="1097421" y="1934817"/>
            <a:ext cx="225734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Applications studied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E135D-C558-99CF-ADD3-091208EB0790}"/>
              </a:ext>
            </a:extLst>
          </p:cNvPr>
          <p:cNvSpPr txBox="1"/>
          <p:nvPr/>
        </p:nvSpPr>
        <p:spPr>
          <a:xfrm>
            <a:off x="1385159" y="4198668"/>
            <a:ext cx="1681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mechanisms</a:t>
            </a:r>
          </a:p>
          <a:p>
            <a:r>
              <a:rPr lang="en-US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DAF0A-EAEA-431B-E8E1-C53941C7180B}"/>
              </a:ext>
            </a:extLst>
          </p:cNvPr>
          <p:cNvSpPr txBox="1">
            <a:spLocks/>
          </p:cNvSpPr>
          <p:nvPr/>
        </p:nvSpPr>
        <p:spPr>
          <a:xfrm>
            <a:off x="4634672" y="1411582"/>
            <a:ext cx="6363530" cy="89760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3-app case study</a:t>
            </a:r>
          </a:p>
          <a:p>
            <a:r>
              <a:rPr lang="en-US" sz="1200" dirty="0"/>
              <a:t>n8n, </a:t>
            </a:r>
            <a:r>
              <a:rPr lang="en-US" sz="1200" dirty="0" err="1"/>
              <a:t>Immich</a:t>
            </a:r>
            <a:r>
              <a:rPr lang="en-US" sz="1200" dirty="0"/>
              <a:t>, and </a:t>
            </a:r>
            <a:r>
              <a:rPr lang="en-US" sz="1200" dirty="0" err="1"/>
              <a:t>Nextcloud</a:t>
            </a:r>
            <a:r>
              <a:rPr lang="en-US" sz="1200" dirty="0"/>
              <a:t>. We cannot claim all self-hosted software is </a:t>
            </a:r>
            <a:r>
              <a:rPr lang="en-US" sz="1200" dirty="0" err="1"/>
              <a:t>fingerprintable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DDFAE6-9049-65C0-7077-00DF9329E157}"/>
              </a:ext>
            </a:extLst>
          </p:cNvPr>
          <p:cNvSpPr txBox="1">
            <a:spLocks/>
          </p:cNvSpPr>
          <p:nvPr/>
        </p:nvSpPr>
        <p:spPr>
          <a:xfrm>
            <a:off x="4634671" y="2531391"/>
            <a:ext cx="6363530" cy="89760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Single server environment</a:t>
            </a:r>
          </a:p>
          <a:p>
            <a:r>
              <a:rPr lang="en-US" sz="1200" dirty="0"/>
              <a:t>All experiments ran on one Ubuntu server. Environmental factors could differ elsewhere.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6F6D42-BA37-E509-9EA9-70BABE992007}"/>
              </a:ext>
            </a:extLst>
          </p:cNvPr>
          <p:cNvSpPr txBox="1">
            <a:spLocks/>
          </p:cNvSpPr>
          <p:nvPr/>
        </p:nvSpPr>
        <p:spPr>
          <a:xfrm>
            <a:off x="4634670" y="3651200"/>
            <a:ext cx="6363530" cy="89760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Metadata only</a:t>
            </a:r>
          </a:p>
          <a:p>
            <a:r>
              <a:rPr lang="en-US" sz="1200" dirty="0"/>
              <a:t>We observed DNS, TLS SNI, and timing. No payload inspection, no Man-In-The-Middle (MITM), no TLS interception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B929F2-D14B-4792-E8A1-3B60A849EFF0}"/>
              </a:ext>
            </a:extLst>
          </p:cNvPr>
          <p:cNvSpPr txBox="1">
            <a:spLocks/>
          </p:cNvSpPr>
          <p:nvPr/>
        </p:nvSpPr>
        <p:spPr>
          <a:xfrm>
            <a:off x="4634669" y="4771009"/>
            <a:ext cx="6363530" cy="1192807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FD9A00"/>
                </a:solidFill>
              </a:rPr>
              <a:t>Each app shows a different mechanism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n8n: timing  gap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Immich</a:t>
            </a:r>
            <a:r>
              <a:rPr lang="en-US" sz="1200" dirty="0"/>
              <a:t>: crash/dependency gap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Nextcloud</a:t>
            </a:r>
            <a:r>
              <a:rPr lang="en-US" sz="1200" dirty="0"/>
              <a:t>: boot-phase gap.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23563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72D60-4A09-1935-F7D6-FF95FDC5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210706-C16A-DAD9-9644-5D8F4F083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1023360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Finding 1: Short Isolated Runs Miss Real Behavior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002C1-3DCE-2DDE-F779-7FBA7BB38705}"/>
              </a:ext>
            </a:extLst>
          </p:cNvPr>
          <p:cNvSpPr txBox="1">
            <a:spLocks/>
          </p:cNvSpPr>
          <p:nvPr/>
        </p:nvSpPr>
        <p:spPr>
          <a:xfrm>
            <a:off x="7005882" y="2316034"/>
            <a:ext cx="4914448" cy="102335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DockerGym</a:t>
            </a:r>
            <a:r>
              <a:rPr lang="en-US" sz="1200" dirty="0"/>
              <a:t> baseline: 0 TLS SNI domains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Automated full-stack: 12 TLS SNI domains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100% of destinations missed in 2-min runs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53C42C-67E8-8414-DE68-E2E469C59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47" y="1829618"/>
            <a:ext cx="6283022" cy="38078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753815-692B-4F11-65B8-D7489CC3601D}"/>
              </a:ext>
            </a:extLst>
          </p:cNvPr>
          <p:cNvSpPr txBox="1"/>
          <p:nvPr/>
        </p:nvSpPr>
        <p:spPr>
          <a:xfrm>
            <a:off x="1566300" y="5701637"/>
            <a:ext cx="3998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DockerGym</a:t>
            </a:r>
            <a:r>
              <a:rPr lang="en-US" sz="1200" dirty="0"/>
              <a:t> baseline vs automated full-stack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A31C4-E9E0-9257-382E-B00F38424C28}"/>
              </a:ext>
            </a:extLst>
          </p:cNvPr>
          <p:cNvSpPr txBox="1">
            <a:spLocks/>
          </p:cNvSpPr>
          <p:nvPr/>
        </p:nvSpPr>
        <p:spPr>
          <a:xfrm>
            <a:off x="7005882" y="4017252"/>
            <a:ext cx="4914448" cy="102335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FD9A00"/>
                </a:solidFill>
              </a:rPr>
              <a:t>Why the gap appears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n8n: Telemetry callback fires after 2 mins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Immich</a:t>
            </a:r>
            <a:r>
              <a:rPr lang="en-US" sz="1200" dirty="0"/>
              <a:t>: solo images crash without DB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Nextcloud</a:t>
            </a:r>
            <a:r>
              <a:rPr lang="en-US" sz="1200" dirty="0"/>
              <a:t>: needs DB initialization before external calls</a:t>
            </a:r>
          </a:p>
        </p:txBody>
      </p:sp>
    </p:spTree>
    <p:extLst>
      <p:ext uri="{BB962C8B-B14F-4D97-AF65-F5344CB8AC3E}">
        <p14:creationId xmlns:p14="http://schemas.microsoft.com/office/powerpoint/2010/main" val="2200727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606D-7920-DA15-5123-CEED763C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CE573DA-19B2-5005-2373-D3289B119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1023360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Finding 2: Periodic Traffic Enables Fingerprinting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4FE9C-B0C4-1B8E-D162-7C84BE5D8776}"/>
              </a:ext>
            </a:extLst>
          </p:cNvPr>
          <p:cNvSpPr txBox="1">
            <a:spLocks/>
          </p:cNvSpPr>
          <p:nvPr/>
        </p:nvSpPr>
        <p:spPr>
          <a:xfrm>
            <a:off x="846382" y="1438019"/>
            <a:ext cx="2684218" cy="102335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n8n: 71/72 hours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Hourly telemetry (</a:t>
            </a:r>
            <a:r>
              <a:rPr lang="en-US" sz="1200" dirty="0" err="1"/>
              <a:t>PostHog</a:t>
            </a:r>
            <a:r>
              <a:rPr lang="en-US" sz="1200" dirty="0"/>
              <a:t> + n8n)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1-hour fingerprint window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75C29E-0AE2-E414-D7C1-F13FE0D49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14" y="2786880"/>
            <a:ext cx="9252973" cy="36674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51C79C-940B-A3AB-E425-93C63B2FCD28}"/>
              </a:ext>
            </a:extLst>
          </p:cNvPr>
          <p:cNvSpPr txBox="1">
            <a:spLocks/>
          </p:cNvSpPr>
          <p:nvPr/>
        </p:nvSpPr>
        <p:spPr>
          <a:xfrm>
            <a:off x="4753891" y="1438019"/>
            <a:ext cx="2684218" cy="102335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Immich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35/72 hours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api.github.com – every 2h (odd hours)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4-hour fingerprint window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236F5-91A6-F6AB-8E65-B3FA5AA9DCFF}"/>
              </a:ext>
            </a:extLst>
          </p:cNvPr>
          <p:cNvSpPr txBox="1">
            <a:spLocks/>
          </p:cNvSpPr>
          <p:nvPr/>
        </p:nvSpPr>
        <p:spPr>
          <a:xfrm>
            <a:off x="8661400" y="1427035"/>
            <a:ext cx="2684218" cy="102335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Nextcloud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4/72 hours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Coarse daily recurrence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24-hour fingerprint window</a:t>
            </a:r>
          </a:p>
        </p:txBody>
      </p:sp>
    </p:spTree>
    <p:extLst>
      <p:ext uri="{BB962C8B-B14F-4D97-AF65-F5344CB8AC3E}">
        <p14:creationId xmlns:p14="http://schemas.microsoft.com/office/powerpoint/2010/main" val="66738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90F5B-72D7-C2B6-A86B-87AED995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BB5843-707C-87BB-EFE3-EB9EFE515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1023360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Finding 3: Opt-Out Controls Work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6CD21-5360-74C2-DDC6-750D6A19C172}"/>
              </a:ext>
            </a:extLst>
          </p:cNvPr>
          <p:cNvSpPr txBox="1">
            <a:spLocks/>
          </p:cNvSpPr>
          <p:nvPr/>
        </p:nvSpPr>
        <p:spPr>
          <a:xfrm>
            <a:off x="7005882" y="1427035"/>
            <a:ext cx="4914448" cy="1260316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n8n partial opt-out: 2 </a:t>
            </a:r>
            <a:r>
              <a:rPr lang="en-US" sz="1200" b="0" dirty="0">
                <a:latin typeface="Segoe UI" panose="020B0502040204020203" pitchFamily="34" charset="0"/>
                <a:cs typeface="Segoe UI" panose="020B0502040204020203" pitchFamily="34" charset="0"/>
              </a:rPr>
              <a:t>→ 0 domains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n8n full opt-out: 2 </a:t>
            </a:r>
            <a:r>
              <a:rPr lang="en-US" sz="1200" b="0" dirty="0">
                <a:latin typeface="Segoe UI" panose="020B0502040204020203" pitchFamily="34" charset="0"/>
                <a:cs typeface="Segoe UI" panose="020B0502040204020203" pitchFamily="34" charset="0"/>
              </a:rPr>
              <a:t>→ 0 domains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Nextcloud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opt-out: 9 </a:t>
            </a:r>
            <a:r>
              <a:rPr lang="en-US" sz="1200" b="0" dirty="0">
                <a:latin typeface="Segoe UI" panose="020B0502040204020203" pitchFamily="34" charset="0"/>
                <a:cs typeface="Segoe UI" panose="020B0502040204020203" pitchFamily="34" charset="0"/>
              </a:rPr>
              <a:t>→ 0 domains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100% reduction across all configurations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A42954-575C-37B0-E7BC-1736F1251AB7}"/>
              </a:ext>
            </a:extLst>
          </p:cNvPr>
          <p:cNvSpPr txBox="1">
            <a:spLocks/>
          </p:cNvSpPr>
          <p:nvPr/>
        </p:nvSpPr>
        <p:spPr>
          <a:xfrm>
            <a:off x="7005882" y="4293597"/>
            <a:ext cx="4914448" cy="1023359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FD9A00"/>
                </a:solidFill>
              </a:rPr>
              <a:t>Caveat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These controls are not enabled by default.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Users must discover and configure them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AB55C-74BB-8DFC-5562-3A6CBE4C8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29" y="1682277"/>
            <a:ext cx="5875880" cy="34934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260B4F-C4D7-68D3-E21A-34FF86E27F43}"/>
              </a:ext>
            </a:extLst>
          </p:cNvPr>
          <p:cNvSpPr txBox="1">
            <a:spLocks/>
          </p:cNvSpPr>
          <p:nvPr/>
        </p:nvSpPr>
        <p:spPr>
          <a:xfrm>
            <a:off x="7005882" y="3005848"/>
            <a:ext cx="4914448" cy="969252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Interpretation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privacy risk is not inevitable</a:t>
            </a:r>
            <a:endParaRPr lang="en-US" sz="1200" b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Vendor-provided controls work when configured correctly</a:t>
            </a:r>
          </a:p>
        </p:txBody>
      </p:sp>
    </p:spTree>
    <p:extLst>
      <p:ext uri="{BB962C8B-B14F-4D97-AF65-F5344CB8AC3E}">
        <p14:creationId xmlns:p14="http://schemas.microsoft.com/office/powerpoint/2010/main" val="415215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A305-25DD-FC24-5362-91166326A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D70B57-49D6-17AC-E262-71669D799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667674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801F0-2146-A524-B57C-8BC087AD09B3}"/>
              </a:ext>
            </a:extLst>
          </p:cNvPr>
          <p:cNvSpPr txBox="1">
            <a:spLocks/>
          </p:cNvSpPr>
          <p:nvPr/>
        </p:nvSpPr>
        <p:spPr>
          <a:xfrm>
            <a:off x="442292" y="1219200"/>
            <a:ext cx="5856908" cy="667674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Takeaway 1</a:t>
            </a:r>
          </a:p>
          <a:p>
            <a:r>
              <a:rPr lang="en-US" sz="1200" dirty="0"/>
              <a:t>Passive fingerprinting was possible for all 3 apps using network metadata alone.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A1B756-F761-4E2E-84F8-FE96AEAE0410}"/>
              </a:ext>
            </a:extLst>
          </p:cNvPr>
          <p:cNvSpPr txBox="1">
            <a:spLocks/>
          </p:cNvSpPr>
          <p:nvPr/>
        </p:nvSpPr>
        <p:spPr>
          <a:xfrm>
            <a:off x="442292" y="2034725"/>
            <a:ext cx="5856908" cy="667674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Takeaway 2</a:t>
            </a:r>
          </a:p>
          <a:p>
            <a:r>
              <a:rPr lang="en-US" sz="1200" dirty="0"/>
              <a:t>Short isolated runs missed behaviors that matter for privacy and fingerprinting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19844-2B82-9C56-E994-1BB4F50624D5}"/>
              </a:ext>
            </a:extLst>
          </p:cNvPr>
          <p:cNvSpPr txBox="1">
            <a:spLocks/>
          </p:cNvSpPr>
          <p:nvPr/>
        </p:nvSpPr>
        <p:spPr>
          <a:xfrm>
            <a:off x="442292" y="2850250"/>
            <a:ext cx="5856908" cy="667674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Takeaway 3</a:t>
            </a:r>
          </a:p>
          <a:p>
            <a:r>
              <a:rPr lang="en-US" sz="1200" dirty="0"/>
              <a:t>Extended observation reveals distinctive periodic patterns in all three applications.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0C357-454C-2A60-94E2-B0E0579F7164}"/>
              </a:ext>
            </a:extLst>
          </p:cNvPr>
          <p:cNvSpPr txBox="1">
            <a:spLocks/>
          </p:cNvSpPr>
          <p:nvPr/>
        </p:nvSpPr>
        <p:spPr>
          <a:xfrm>
            <a:off x="442292" y="3665775"/>
            <a:ext cx="5856908" cy="667674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Takeaway 4</a:t>
            </a:r>
          </a:p>
          <a:p>
            <a:r>
              <a:rPr lang="en-US" sz="1200" dirty="0"/>
              <a:t>Opt-out controls suppress telemetry when configured, but are not enabled by default.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78A853-5107-A8BE-E277-5F9E8C9C61BA}"/>
              </a:ext>
            </a:extLst>
          </p:cNvPr>
          <p:cNvSpPr txBox="1">
            <a:spLocks/>
          </p:cNvSpPr>
          <p:nvPr/>
        </p:nvSpPr>
        <p:spPr>
          <a:xfrm>
            <a:off x="6591300" y="1421049"/>
            <a:ext cx="5361608" cy="10795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FD9A00"/>
                </a:solidFill>
              </a:rPr>
              <a:t>What a passive adversary learns</a:t>
            </a:r>
          </a:p>
          <a:p>
            <a:r>
              <a:rPr lang="en-US" sz="1200" dirty="0"/>
              <a:t>What software is deployed (app identity)</a:t>
            </a:r>
          </a:p>
          <a:p>
            <a:r>
              <a:rPr lang="en-US" sz="1200" dirty="0"/>
              <a:t>When telemetry recurs (timing signature)</a:t>
            </a:r>
          </a:p>
          <a:p>
            <a:r>
              <a:rPr lang="en-US" sz="1200" dirty="0"/>
              <a:t>Whether remediation is enabled (opt-out state)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E7CA5-6221-56C9-A195-86779575539E}"/>
              </a:ext>
            </a:extLst>
          </p:cNvPr>
          <p:cNvSpPr txBox="1">
            <a:spLocks/>
          </p:cNvSpPr>
          <p:nvPr/>
        </p:nvSpPr>
        <p:spPr>
          <a:xfrm>
            <a:off x="6591300" y="3048000"/>
            <a:ext cx="5361608" cy="10795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Scoped claim</a:t>
            </a:r>
          </a:p>
          <a:p>
            <a:r>
              <a:rPr lang="en-US" sz="1200" dirty="0"/>
              <a:t>Evidence for possibility, not ecosystem-wide prevalence.</a:t>
            </a:r>
          </a:p>
          <a:p>
            <a:r>
              <a:rPr lang="en-US" sz="1200" dirty="0"/>
              <a:t>Each app exhibited a different mechanism.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6F995E-D070-16A1-C524-24BE7EE27661}"/>
              </a:ext>
            </a:extLst>
          </p:cNvPr>
          <p:cNvSpPr txBox="1"/>
          <p:nvPr/>
        </p:nvSpPr>
        <p:spPr>
          <a:xfrm>
            <a:off x="949656" y="5384800"/>
            <a:ext cx="10292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Self-Hosting reduces data exposure but also does not eliminate network-visible fingerprints by default.</a:t>
            </a:r>
          </a:p>
        </p:txBody>
      </p:sp>
    </p:spTree>
    <p:extLst>
      <p:ext uri="{BB962C8B-B14F-4D97-AF65-F5344CB8AC3E}">
        <p14:creationId xmlns:p14="http://schemas.microsoft.com/office/powerpoint/2010/main" val="405831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8FB1-14E1-7199-0CA3-7DF25CF1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09AE4A-70E9-330B-5133-25E26BB62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667674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DBC22-8C14-AAD7-25D6-680B2A783D18}"/>
              </a:ext>
            </a:extLst>
          </p:cNvPr>
          <p:cNvSpPr txBox="1">
            <a:spLocks/>
          </p:cNvSpPr>
          <p:nvPr/>
        </p:nvSpPr>
        <p:spPr>
          <a:xfrm>
            <a:off x="442292" y="1219200"/>
            <a:ext cx="11292508" cy="1066800"/>
          </a:xfrm>
          <a:prstGeom prst="roundRect">
            <a:avLst>
              <a:gd name="adj" fmla="val 2550"/>
            </a:avLst>
          </a:prstGeom>
          <a:solidFill>
            <a:srgbClr val="1C1C1C"/>
          </a:solidFill>
        </p:spPr>
        <p:txBody>
          <a:bodyPr wrap="none" rtlCol="0">
            <a:noAutofit/>
          </a:bodyPr>
          <a:lstStyle/>
          <a:p>
            <a:r>
              <a:rPr lang="en-US" sz="1200" b="0" dirty="0">
                <a:latin typeface="Segoe UI"/>
              </a:rPr>
              <a:t>[1] "Uncontained Danger: Quantifying Remote Dependencies in Containerized Applications," RAID 2025 (</a:t>
            </a:r>
            <a:r>
              <a:rPr lang="en-US" sz="1200" b="0" dirty="0" err="1">
                <a:latin typeface="Segoe UI"/>
              </a:rPr>
              <a:t>DockerGym</a:t>
            </a:r>
            <a:r>
              <a:rPr lang="en-US" sz="1200" b="0" dirty="0">
                <a:latin typeface="Segoe UI"/>
              </a:rPr>
              <a:t>).	</a:t>
            </a:r>
            <a:r>
              <a:rPr lang="en-US" sz="1200" b="0" dirty="0">
                <a:solidFill>
                  <a:schemeClr val="bg2">
                    <a:lumMod val="50000"/>
                    <a:lumOff val="50000"/>
                  </a:schemeClr>
                </a:solidFill>
                <a:latin typeface="Segoe UI"/>
              </a:rPr>
              <a:t>[</a:t>
            </a:r>
            <a:r>
              <a:rPr lang="en-US" sz="12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Primary Comparison]</a:t>
            </a:r>
            <a:endParaRPr lang="en-US" sz="1200" b="0" dirty="0">
              <a:solidFill>
                <a:schemeClr val="bg2">
                  <a:lumMod val="50000"/>
                  <a:lumOff val="50000"/>
                </a:schemeClr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b="0" dirty="0">
                <a:latin typeface="Segoe UI"/>
              </a:rPr>
              <a:t>[2] T. Hu et al., "Measuring Smart Home IoT Behavior Using Network-Inferred Behavior Models," IMC 2023 (</a:t>
            </a:r>
            <a:r>
              <a:rPr lang="en-US" sz="1200" b="0" dirty="0" err="1">
                <a:latin typeface="Segoe UI"/>
              </a:rPr>
              <a:t>BehavIoT</a:t>
            </a:r>
            <a:r>
              <a:rPr lang="en-US" sz="1200" b="0" dirty="0">
                <a:latin typeface="Segoe UI"/>
              </a:rPr>
              <a:t>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b="0" dirty="0">
                <a:latin typeface="Segoe UI"/>
              </a:rPr>
              <a:t>[3] J. Varmarken et al., "Fingerprinting Smart TV Apps," </a:t>
            </a:r>
            <a:r>
              <a:rPr lang="en-US" sz="1200" b="0" dirty="0" err="1">
                <a:latin typeface="Segoe UI"/>
              </a:rPr>
              <a:t>PoPETS</a:t>
            </a:r>
            <a:r>
              <a:rPr lang="en-US" sz="1200" b="0" dirty="0">
                <a:latin typeface="Segoe UI"/>
              </a:rPr>
              <a:t> 2022 (</a:t>
            </a:r>
            <a:r>
              <a:rPr lang="en-US" sz="1200" b="0" dirty="0" err="1">
                <a:latin typeface="Segoe UI"/>
              </a:rPr>
              <a:t>FingerprinTV</a:t>
            </a:r>
            <a:r>
              <a:rPr lang="en-US" sz="1200" b="0" dirty="0">
                <a:latin typeface="Segoe UI"/>
              </a:rPr>
              <a:t>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b="0" dirty="0">
                <a:latin typeface="Segoe UI"/>
              </a:rPr>
              <a:t>[4] Cherubin et al., "Online Website Fingerprinting: Evaluating Website Fingerprinting Attacks on Tor," USENIX Security 2022.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200" b="0" dirty="0">
              <a:latin typeface="Segoe UI"/>
            </a:endParaRPr>
          </a:p>
          <a:p>
            <a:endParaRPr lang="en-US" sz="1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7D95A50-DC93-5CAA-896E-611FEEAD98DF}"/>
              </a:ext>
            </a:extLst>
          </p:cNvPr>
          <p:cNvSpPr txBox="1">
            <a:spLocks/>
          </p:cNvSpPr>
          <p:nvPr/>
        </p:nvSpPr>
        <p:spPr>
          <a:xfrm>
            <a:off x="342900" y="3095163"/>
            <a:ext cx="11577430" cy="667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Project Repository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4D6936-D7C8-E3D3-4039-0CB1A39DF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92" y="3878015"/>
            <a:ext cx="1760785" cy="17607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AEAE5C-0A01-8A24-2B88-78C374993ED8}"/>
              </a:ext>
            </a:extLst>
          </p:cNvPr>
          <p:cNvSpPr txBox="1"/>
          <p:nvPr/>
        </p:nvSpPr>
        <p:spPr>
          <a:xfrm>
            <a:off x="2387600" y="45016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github.com/ZEUSGMJ/mind-your-stack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63429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D5AFB-196F-321D-29B8-811AE426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E105F24-7D75-3D76-E032-B12FDD46B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403675"/>
            <a:ext cx="11577430" cy="667674"/>
          </a:xfrm>
        </p:spPr>
        <p:txBody>
          <a:bodyPr anchor="ctr"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Disclosure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2359D-01CD-36FF-A8BC-328CC9D9964E}"/>
              </a:ext>
            </a:extLst>
          </p:cNvPr>
          <p:cNvSpPr txBox="1"/>
          <p:nvPr/>
        </p:nvSpPr>
        <p:spPr>
          <a:xfrm>
            <a:off x="342900" y="1576685"/>
            <a:ext cx="11577430" cy="667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This project used Claude (Anthropic) for assistance with shell script development, crash diagnosis, and research outlining.</a:t>
            </a:r>
          </a:p>
          <a:p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Gemini Deep Research assisted with literature survey.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32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5E87C-40DD-6A06-AD10-E4D8A002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7AE89A9-2B4D-970E-EE29-C4E2BA8D0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2782657"/>
            <a:ext cx="11577430" cy="1292687"/>
          </a:xfrm>
        </p:spPr>
        <p:txBody>
          <a:bodyPr anchor="ctr">
            <a:noAutofit/>
          </a:bodyPr>
          <a:lstStyle/>
          <a:p>
            <a:r>
              <a:rPr lang="en-US" sz="9600" b="1" dirty="0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325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6AC9-4846-9854-1D55-40B61804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5888F14-044A-7EC8-570C-5D7EC03EE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2782657"/>
            <a:ext cx="11577430" cy="1292687"/>
          </a:xfrm>
        </p:spPr>
        <p:txBody>
          <a:bodyPr anchor="ctr">
            <a:noAutofit/>
          </a:bodyPr>
          <a:lstStyle/>
          <a:p>
            <a:r>
              <a:rPr lang="en-US" sz="96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23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88EB0C2D51044DB27920CE9AE5F994" ma:contentTypeVersion="14" ma:contentTypeDescription="Create a new document." ma:contentTypeScope="" ma:versionID="8c18eb3edceda36238befd9ee43db7fc">
  <xsd:schema xmlns:xsd="http://www.w3.org/2001/XMLSchema" xmlns:xs="http://www.w3.org/2001/XMLSchema" xmlns:p="http://schemas.microsoft.com/office/2006/metadata/properties" xmlns:ns1="http://schemas.microsoft.com/sharepoint/v3" xmlns:ns3="28d6f532-330c-4fa8-8334-4e0e0ff66edb" targetNamespace="http://schemas.microsoft.com/office/2006/metadata/properties" ma:root="true" ma:fieldsID="08d72d643a02248dc587cf65bbd2b5d4" ns1:_="" ns3:_="">
    <xsd:import namespace="http://schemas.microsoft.com/sharepoint/v3"/>
    <xsd:import namespace="28d6f532-330c-4fa8-8334-4e0e0ff66ed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d6f532-330c-4fa8-8334-4e0e0ff66ed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d6f532-330c-4fa8-8334-4e0e0ff66edb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9821991-2BBD-4393-938E-BB76E79310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8d6f532-330c-4fa8-8334-4e0e0ff66e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49A107-3BB9-464A-BF1C-4844889794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8507F-7DE3-4CD0-B865-0EB1A33EBFD1}">
  <ds:schemaRefs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28d6f532-330c-4fa8-8334-4e0e0ff66edb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842</Words>
  <Application>Microsoft Office PowerPoint</Application>
  <PresentationFormat>Widescreen</PresentationFormat>
  <Paragraphs>153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Aptos</vt:lpstr>
      <vt:lpstr>Aptos Display</vt:lpstr>
      <vt:lpstr>Arial</vt:lpstr>
      <vt:lpstr>Segoe UI</vt:lpstr>
      <vt:lpstr>Office Theme</vt:lpstr>
      <vt:lpstr>Mind Your Stack Fingerprinting Self-Hosted Software Through Passive Network Observation</vt:lpstr>
      <vt:lpstr>Roadmap</vt:lpstr>
      <vt:lpstr>Research Question &amp; Threat Model</vt:lpstr>
      <vt:lpstr>Methodology</vt:lpstr>
      <vt:lpstr>Scope &amp; Limitations</vt:lpstr>
      <vt:lpstr>Finding 1: Short Isolated Runs Miss Real Behavior</vt:lpstr>
      <vt:lpstr>Finding 2: Periodic Traffic Enables Fingerprinting</vt:lpstr>
      <vt:lpstr>Finding 3: Opt-Out Controls Work</vt:lpstr>
      <vt:lpstr>Conclusion</vt:lpstr>
      <vt:lpstr>References</vt:lpstr>
      <vt:lpstr>Disclosure</vt:lpstr>
      <vt:lpstr>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Gujjalapudi Madhusudan, Jisnu</dc:creator>
  <cp:lastModifiedBy>Gujjalapudi Madhusudan, Jisnu</cp:lastModifiedBy>
  <cp:revision>3</cp:revision>
  <dcterms:created xsi:type="dcterms:W3CDTF">2026-03-11T02:50:53Z</dcterms:created>
  <dcterms:modified xsi:type="dcterms:W3CDTF">2026-03-11T15:33:05Z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0x0101001788EB0C2D51044DB27920CE9AE5F994</vt:lpwstr>
  </property>
</Properties>
</file>